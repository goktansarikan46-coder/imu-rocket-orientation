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  <p:sldId id="264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9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BE53C0-4A6C-8268-9CB3-63634AF8A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D66C5A5-D071-41A9-6A52-F107DAB30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0AA9FE-0574-112D-C296-9F9D00A2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9C09D3-16FB-460D-B17B-37725310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096492-6E1F-B06D-46AB-2218D991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6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458A69-660B-2769-622A-328C0E4C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BA1C7E-B43F-E1DB-6733-55F156D2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CA67BB-8728-487A-735A-261AFFA9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D1DA0BC-6095-6B04-AC2F-028585FB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2FAC31-148C-0EDE-8C0C-B75D7381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5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9CFAC0-DA45-97ED-3A16-B650830E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70F4A51-E4B4-4184-9E70-0F18D5CE5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8ABFD4D-F140-D336-AD11-61BECD87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3917E2F-05D1-A14B-7637-84E3C6D9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EFB898-22D2-C182-3694-2C53019C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9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543110-4FFB-0C91-AEEC-964D2AF4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8A2837-E74A-937E-3F1D-89B5F4431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1EB76D4-43C5-B408-D2EE-CB42828A5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B5849BE-0167-0C46-0D8F-6642AB56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BC424F7-1F6A-C6AC-6D6B-8BA80294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300BF20-F095-32C0-9003-141200C1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53A36F-F6F1-C4A7-605A-97A5FE18E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52693D9-4850-AFCC-9D69-F2D036A24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9400CD7-56B2-61F6-0845-03629EA8C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11FD7B3-EF11-0ECC-1DC6-BEAB4EDC0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45DE763-CCE7-686D-1720-3C18C865E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99ADFD4-F025-700E-CF75-1DE198AF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BA99982-457F-CD84-FDA5-B37EDE4C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3CB1564-BCA3-5A04-4E8D-3D25B83D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7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48697A-CB35-7EF1-60AD-51697D6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6FBED83-8310-D782-8890-599A8577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01E70D0-64A1-B8AB-245E-7F9B9D85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1B4826E-BE44-B23A-898B-8BF2229E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2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346268A-8FB5-6379-B578-42C57109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F5547ED-7C68-E490-4AC6-CF7A09CD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34D8DF0-8830-375D-F284-D45D71C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2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65B781-DC3F-6079-F6C5-25205A547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2E8936A-B2A8-8B87-67E3-87EEBF65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359113D-FD0C-A8C5-1B32-04528EE7F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3074990-A1DF-EBA8-7C0F-B022703E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E626325-A518-FDDF-5BDD-B51D0B0F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FBFD299-137D-EE8F-B561-DEDC86FB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6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138526-E5F4-DC22-A84B-2450276B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B7EC423-F55C-A8E4-898F-0C54EB2B7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073261C-BB00-B055-2766-3FA9B79E1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E1DC6F9-371E-0ACD-E6B3-98A5F62B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85488DA-AE80-BF5B-7D9B-53A375BB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93E9A0D-A963-CF2E-A896-16A0EDD8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0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684CB7-68C8-605C-FFE6-F9FF3B9A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49DF089-59C3-85E7-6623-B89C0A249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6771AE-9AFE-3DE0-55F0-99E4B9FE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88B43C-FF10-448A-62C0-D90C22BB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EEEA205-7955-1393-0156-8B25EE48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1145E1A-F01C-F513-3B61-FC02BCB48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BCA618A-0823-6BFF-C4E8-947820075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2DAEA0C-851F-41CB-BF16-E90E0B86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9B4002E-D902-7B38-619B-979D6F36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ACE0CC-5C01-DA72-65F6-342EF714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6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1916621-7D93-3ECD-35C8-4FA15BD3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E1BF935-6A10-E09A-7AAF-90A161E07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D9BA82E-BB0A-923D-2F83-8F798D104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932981-18EA-5D4A-3814-F3EDCB2B8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332A05-ED3C-53EE-4D40-9BBDB89A5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3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95437" y="337835"/>
            <a:ext cx="9001125" cy="709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56B3"/>
                </a:solidFill>
                <a:latin typeface="Montserrat"/>
              </a:rPr>
              <a:t>STM32-C092RCT6</a:t>
            </a:r>
            <a:endParaRPr lang="en-US" sz="4800" b="1" i="0" u="none" dirty="0">
              <a:solidFill>
                <a:srgbClr val="0056B3"/>
              </a:solidFill>
              <a:latin typeface="Montserrat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ED5880C-863E-5A0C-B2C1-189206F9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632" y="1299804"/>
            <a:ext cx="4001058" cy="5306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CB2A61D-E80B-DE79-253C-58BE8E45F405}"/>
              </a:ext>
            </a:extLst>
          </p:cNvPr>
          <p:cNvSpPr txBox="1"/>
          <p:nvPr/>
        </p:nvSpPr>
        <p:spPr>
          <a:xfrm>
            <a:off x="717755" y="403123"/>
            <a:ext cx="1075649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STM32-C092RC </a:t>
            </a:r>
            <a:r>
              <a:rPr lang="en-US" sz="31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Kartının</a:t>
            </a:r>
            <a:r>
              <a:rPr lang="en-US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Özellikleri</a:t>
            </a:r>
            <a:r>
              <a:rPr lang="en-US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en-US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Avantajları</a:t>
            </a:r>
            <a:endParaRPr lang="en-US" sz="31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053BFD0-70E3-71BD-A33C-FA085A71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4" y="1380868"/>
            <a:ext cx="5042031" cy="4449661"/>
          </a:xfrm>
          <a:prstGeom prst="rect">
            <a:avLst/>
          </a:prstGeom>
        </p:spPr>
      </p:pic>
      <p:pic>
        <p:nvPicPr>
          <p:cNvPr id="6" name="Picture 9" descr="image.png">
            <a:extLst>
              <a:ext uri="{FF2B5EF4-FFF2-40B4-BE49-F238E27FC236}">
                <a16:creationId xmlns:a16="http://schemas.microsoft.com/office/drawing/2014/main" id="{610B66BC-1E52-4F8F-049A-D0A8EE05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4" y="1447645"/>
            <a:ext cx="95250" cy="20002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882CD59F-EDC7-E91B-217F-CF66DAA1C3AB}"/>
              </a:ext>
            </a:extLst>
          </p:cNvPr>
          <p:cNvSpPr txBox="1"/>
          <p:nvPr/>
        </p:nvSpPr>
        <p:spPr>
          <a:xfrm>
            <a:off x="934065" y="1347633"/>
            <a:ext cx="52602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ARM Cortex-M0+ </a:t>
            </a:r>
            <a:r>
              <a:rPr lang="en-US" sz="2000" dirty="0" err="1"/>
              <a:t>Çekirdeği</a:t>
            </a:r>
            <a:r>
              <a:rPr lang="en-US" sz="2000" dirty="0"/>
              <a:t> (84MHz)</a:t>
            </a:r>
          </a:p>
          <a:p>
            <a:r>
              <a:rPr lang="en-US" sz="2000" dirty="0"/>
              <a:t>256 KB Flash </a:t>
            </a:r>
            <a:r>
              <a:rPr lang="en-US" sz="2000" dirty="0" err="1"/>
              <a:t>Bellek</a:t>
            </a:r>
            <a:endParaRPr lang="en-US" sz="2000" dirty="0"/>
          </a:p>
          <a:p>
            <a:r>
              <a:rPr lang="en-US" sz="2000" dirty="0"/>
              <a:t>32 KB SRAM</a:t>
            </a:r>
          </a:p>
        </p:txBody>
      </p:sp>
      <p:pic>
        <p:nvPicPr>
          <p:cNvPr id="9" name="Picture 9" descr="image.png">
            <a:extLst>
              <a:ext uri="{FF2B5EF4-FFF2-40B4-BE49-F238E27FC236}">
                <a16:creationId xmlns:a16="http://schemas.microsoft.com/office/drawing/2014/main" id="{3AA9631D-F847-0886-8E4D-4B95739D1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4" y="2593104"/>
            <a:ext cx="95250" cy="200025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4FB7E5A7-E235-628A-C5E2-602DEC371EE4}"/>
              </a:ext>
            </a:extLst>
          </p:cNvPr>
          <p:cNvSpPr txBox="1"/>
          <p:nvPr/>
        </p:nvSpPr>
        <p:spPr>
          <a:xfrm>
            <a:off x="934065" y="2467358"/>
            <a:ext cx="384441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FDCAN (Flexible Data-Rate CAN)</a:t>
            </a:r>
          </a:p>
          <a:p>
            <a:r>
              <a:rPr lang="en-US" sz="2000" dirty="0"/>
              <a:t>USB 2.0 Full-Speed</a:t>
            </a:r>
          </a:p>
          <a:p>
            <a:r>
              <a:rPr lang="en-US" sz="2000" dirty="0"/>
              <a:t>USART / UART</a:t>
            </a:r>
          </a:p>
          <a:p>
            <a:r>
              <a:rPr lang="en-US" sz="2000" dirty="0"/>
              <a:t>SPI</a:t>
            </a:r>
          </a:p>
          <a:p>
            <a:r>
              <a:rPr lang="en-US" sz="2000" dirty="0"/>
              <a:t>I2C</a:t>
            </a:r>
          </a:p>
          <a:p>
            <a:r>
              <a:rPr lang="en-US" sz="2000" dirty="0"/>
              <a:t>I2S</a:t>
            </a:r>
          </a:p>
          <a:p>
            <a:endParaRPr lang="en-US" dirty="0"/>
          </a:p>
        </p:txBody>
      </p:sp>
      <p:pic>
        <p:nvPicPr>
          <p:cNvPr id="15" name="Picture 9" descr="image.png">
            <a:extLst>
              <a:ext uri="{FF2B5EF4-FFF2-40B4-BE49-F238E27FC236}">
                <a16:creationId xmlns:a16="http://schemas.microsoft.com/office/drawing/2014/main" id="{FDC41626-47C9-7F5D-347E-D41348AB4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4" y="4775682"/>
            <a:ext cx="95250" cy="200025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FFFFED5B-26EF-D2CD-0F89-A3D2D16F8C9E}"/>
              </a:ext>
            </a:extLst>
          </p:cNvPr>
          <p:cNvSpPr txBox="1"/>
          <p:nvPr/>
        </p:nvSpPr>
        <p:spPr>
          <a:xfrm>
            <a:off x="934065" y="4645397"/>
            <a:ext cx="35002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12-bit ADC</a:t>
            </a:r>
          </a:p>
          <a:p>
            <a:r>
              <a:rPr lang="en-US" sz="2000" dirty="0"/>
              <a:t>Analog </a:t>
            </a:r>
            <a:r>
              <a:rPr lang="en-US" sz="2000" dirty="0" err="1"/>
              <a:t>Karşılaştırıcı</a:t>
            </a:r>
            <a:r>
              <a:rPr lang="en-US" sz="2000" dirty="0"/>
              <a:t> (Comparator)</a:t>
            </a:r>
          </a:p>
          <a:p>
            <a:r>
              <a:rPr lang="en-US" sz="2000" dirty="0" err="1"/>
              <a:t>Dâhili</a:t>
            </a:r>
            <a:r>
              <a:rPr lang="en-US" sz="2000" dirty="0"/>
              <a:t> </a:t>
            </a:r>
            <a:r>
              <a:rPr lang="en-US" sz="2000" dirty="0" err="1"/>
              <a:t>Sıcaklık</a:t>
            </a:r>
            <a:r>
              <a:rPr lang="en-US" sz="2000" dirty="0"/>
              <a:t> </a:t>
            </a:r>
            <a:r>
              <a:rPr lang="en-US" sz="2000" dirty="0" err="1"/>
              <a:t>Sensörü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85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257300"/>
            <a:ext cx="5429250" cy="5124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476250"/>
            <a:ext cx="11715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dirty="0" err="1">
                <a:solidFill>
                  <a:srgbClr val="0323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Mevcut</a:t>
            </a:r>
            <a:r>
              <a:rPr lang="en-US" sz="3150" dirty="0">
                <a:solidFill>
                  <a:srgbClr val="0323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Durum </a:t>
            </a:r>
            <a:r>
              <a:rPr lang="en-US" sz="3150" dirty="0" err="1">
                <a:solidFill>
                  <a:srgbClr val="0323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en-US" sz="3150" dirty="0">
                <a:solidFill>
                  <a:srgbClr val="0323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150" dirty="0" err="1">
                <a:solidFill>
                  <a:srgbClr val="0323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İhtiyaçlar</a:t>
            </a:r>
            <a:endParaRPr sz="3150" b="0" i="0" u="none" dirty="0">
              <a:solidFill>
                <a:srgbClr val="03234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65" y="1247621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65" y="2504437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381501"/>
            <a:ext cx="95250" cy="20002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B3FE586D-86EC-3447-4071-5F623CCE4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304267"/>
            <a:ext cx="5617190" cy="2595142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ADEF51A9-5BB2-5F88-6530-5A91968BD672}"/>
              </a:ext>
            </a:extLst>
          </p:cNvPr>
          <p:cNvSpPr txBox="1"/>
          <p:nvPr/>
        </p:nvSpPr>
        <p:spPr>
          <a:xfrm>
            <a:off x="666750" y="1257300"/>
            <a:ext cx="5153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Şuan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ileride</a:t>
            </a:r>
            <a:r>
              <a:rPr lang="en-US" dirty="0"/>
              <a:t> </a:t>
            </a:r>
            <a:r>
              <a:rPr lang="en-US" dirty="0" err="1"/>
              <a:t>geliştirilmesi</a:t>
            </a:r>
            <a:r>
              <a:rPr lang="en-US" dirty="0"/>
              <a:t> </a:t>
            </a:r>
            <a:r>
              <a:rPr lang="en-US" dirty="0" err="1"/>
              <a:t>planlanan</a:t>
            </a:r>
            <a:r>
              <a:rPr lang="en-US" dirty="0"/>
              <a:t> </a:t>
            </a:r>
            <a:r>
              <a:rPr lang="en-US" dirty="0" err="1"/>
              <a:t>projeler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haberleşme</a:t>
            </a:r>
            <a:r>
              <a:rPr lang="en-US" dirty="0"/>
              <a:t> </a:t>
            </a:r>
            <a:r>
              <a:rPr lang="en-US" dirty="0" err="1"/>
              <a:t>ağı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konumda</a:t>
            </a:r>
            <a:endParaRPr lang="en-US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956985B-A8FD-B4F0-D792-33E942712B9F}"/>
              </a:ext>
            </a:extLst>
          </p:cNvPr>
          <p:cNvSpPr txBox="1"/>
          <p:nvPr/>
        </p:nvSpPr>
        <p:spPr>
          <a:xfrm>
            <a:off x="666750" y="2405762"/>
            <a:ext cx="4805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Birden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sensör</a:t>
            </a:r>
            <a:r>
              <a:rPr lang="en-US" dirty="0"/>
              <a:t>, motor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iletişimi</a:t>
            </a:r>
            <a:r>
              <a:rPr lang="en-US" dirty="0"/>
              <a:t> </a:t>
            </a:r>
            <a:r>
              <a:rPr lang="en-US" dirty="0" err="1"/>
              <a:t>isteyen</a:t>
            </a:r>
            <a:r>
              <a:rPr lang="en-US" dirty="0"/>
              <a:t> </a:t>
            </a:r>
            <a:r>
              <a:rPr lang="en-US" dirty="0" err="1"/>
              <a:t>elemenlar</a:t>
            </a:r>
            <a:r>
              <a:rPr lang="en-US" dirty="0"/>
              <a:t> </a:t>
            </a:r>
            <a:r>
              <a:rPr lang="en-US" dirty="0" err="1"/>
              <a:t>projeye</a:t>
            </a:r>
            <a:r>
              <a:rPr lang="en-US" dirty="0"/>
              <a:t> </a:t>
            </a:r>
            <a:r>
              <a:rPr lang="en-US" dirty="0" err="1"/>
              <a:t>dahil</a:t>
            </a:r>
            <a:r>
              <a:rPr lang="en-US" dirty="0"/>
              <a:t> </a:t>
            </a:r>
            <a:r>
              <a:rPr lang="en-US" dirty="0" err="1"/>
              <a:t>oldukça</a:t>
            </a:r>
            <a:r>
              <a:rPr lang="en-US" dirty="0"/>
              <a:t> </a:t>
            </a:r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haberleşme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SPI </a:t>
            </a:r>
            <a:r>
              <a:rPr lang="en-US" dirty="0" err="1"/>
              <a:t>ve</a:t>
            </a:r>
            <a:r>
              <a:rPr lang="en-US" dirty="0"/>
              <a:t> I2C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yöntemler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işlemci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bağlantılı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karmaşa</a:t>
            </a:r>
            <a:r>
              <a:rPr lang="en-US" dirty="0"/>
              <a:t> </a:t>
            </a:r>
            <a:r>
              <a:rPr lang="en-US" dirty="0" err="1"/>
              <a:t>yaratıyor</a:t>
            </a:r>
            <a:r>
              <a:rPr lang="en-US" dirty="0"/>
              <a:t>.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5B457B0-1911-8D0E-F712-33075C53244F}"/>
              </a:ext>
            </a:extLst>
          </p:cNvPr>
          <p:cNvSpPr txBox="1"/>
          <p:nvPr/>
        </p:nvSpPr>
        <p:spPr>
          <a:xfrm>
            <a:off x="666750" y="4381501"/>
            <a:ext cx="4429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 </a:t>
            </a:r>
            <a:r>
              <a:rPr lang="en-US" dirty="0" err="1"/>
              <a:t>nedenle</a:t>
            </a:r>
            <a:r>
              <a:rPr lang="en-US" dirty="0"/>
              <a:t> CAN (Controlled Area Network) </a:t>
            </a:r>
            <a:r>
              <a:rPr lang="en-US" dirty="0" err="1"/>
              <a:t>haberleşme</a:t>
            </a:r>
            <a:r>
              <a:rPr lang="en-US" dirty="0"/>
              <a:t> </a:t>
            </a:r>
            <a:r>
              <a:rPr lang="en-US" dirty="0" err="1"/>
              <a:t>protokolü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onlarca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hat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control </a:t>
            </a:r>
            <a:r>
              <a:rPr lang="en-US" dirty="0" err="1"/>
              <a:t>sistemi</a:t>
            </a:r>
            <a:r>
              <a:rPr lang="en-US" dirty="0"/>
              <a:t>  </a:t>
            </a:r>
            <a:r>
              <a:rPr lang="en-US" dirty="0" err="1"/>
              <a:t>kurabiliyoruz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8755746-4261-23BA-BCED-3F8266B55F52}"/>
              </a:ext>
            </a:extLst>
          </p:cNvPr>
          <p:cNvSpPr txBox="1"/>
          <p:nvPr/>
        </p:nvSpPr>
        <p:spPr>
          <a:xfrm>
            <a:off x="835742" y="353961"/>
            <a:ext cx="91440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FDCAN </a:t>
            </a:r>
            <a:r>
              <a:rPr lang="en-US" sz="315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Farkı</a:t>
            </a:r>
            <a:r>
              <a:rPr lang="en-US" sz="3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Ne?</a:t>
            </a:r>
          </a:p>
        </p:txBody>
      </p:sp>
      <p:pic>
        <p:nvPicPr>
          <p:cNvPr id="5" name="Picture 9" descr="image.png">
            <a:extLst>
              <a:ext uri="{FF2B5EF4-FFF2-40B4-BE49-F238E27FC236}">
                <a16:creationId xmlns:a16="http://schemas.microsoft.com/office/drawing/2014/main" id="{9D397AB9-93B1-DD28-6368-E2B82B09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34" y="1347633"/>
            <a:ext cx="95250" cy="200025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38726C9F-6392-51C7-D05A-8769D317D5CE}"/>
              </a:ext>
            </a:extLst>
          </p:cNvPr>
          <p:cNvSpPr txBox="1"/>
          <p:nvPr/>
        </p:nvSpPr>
        <p:spPr>
          <a:xfrm>
            <a:off x="835742" y="1262979"/>
            <a:ext cx="453267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Klasik</a:t>
            </a:r>
            <a:r>
              <a:rPr lang="en-US" sz="2000" dirty="0"/>
              <a:t> CAN </a:t>
            </a:r>
            <a:r>
              <a:rPr lang="en-US" sz="2000" dirty="0" err="1"/>
              <a:t>maksimum</a:t>
            </a:r>
            <a:r>
              <a:rPr lang="en-US" sz="2000" dirty="0"/>
              <a:t> 1Mpbs </a:t>
            </a:r>
            <a:r>
              <a:rPr lang="en-US" sz="2000" dirty="0" err="1"/>
              <a:t>hızında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fazla</a:t>
            </a:r>
            <a:r>
              <a:rPr lang="en-US" sz="2000" dirty="0"/>
              <a:t> 8 </a:t>
            </a:r>
            <a:r>
              <a:rPr lang="en-US" sz="2000" dirty="0" err="1"/>
              <a:t>bayt</a:t>
            </a:r>
            <a:r>
              <a:rPr lang="en-US" sz="2000" dirty="0"/>
              <a:t> 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taşıyabilir</a:t>
            </a:r>
            <a:r>
              <a:rPr lang="en-US" sz="2000" dirty="0"/>
              <a:t>. Modern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sensörün</a:t>
            </a:r>
            <a:r>
              <a:rPr lang="en-US" sz="2000" dirty="0"/>
              <a:t> </a:t>
            </a:r>
            <a:r>
              <a:rPr lang="en-US" sz="2000" dirty="0" err="1"/>
              <a:t>parametrelerini</a:t>
            </a:r>
            <a:r>
              <a:rPr lang="en-US" sz="2000" dirty="0"/>
              <a:t> </a:t>
            </a:r>
            <a:r>
              <a:rPr lang="en-US" sz="2000" dirty="0" err="1"/>
              <a:t>veya</a:t>
            </a:r>
            <a:r>
              <a:rPr lang="en-US" sz="2000" dirty="0"/>
              <a:t> </a:t>
            </a:r>
            <a:r>
              <a:rPr lang="en-US" sz="2000" dirty="0" err="1"/>
              <a:t>karmaşık</a:t>
            </a:r>
            <a:r>
              <a:rPr lang="en-US" sz="2000" dirty="0"/>
              <a:t> durum </a:t>
            </a:r>
            <a:r>
              <a:rPr lang="en-US" sz="2000" dirty="0" err="1"/>
              <a:t>bilgilerini</a:t>
            </a:r>
            <a:r>
              <a:rPr lang="en-US" sz="2000" dirty="0"/>
              <a:t> 8 </a:t>
            </a:r>
            <a:r>
              <a:rPr lang="en-US" sz="2000" dirty="0" err="1"/>
              <a:t>bayta</a:t>
            </a:r>
            <a:r>
              <a:rPr lang="en-US" sz="2000" dirty="0"/>
              <a:t> </a:t>
            </a:r>
            <a:r>
              <a:rPr lang="en-US" sz="2000" dirty="0" err="1"/>
              <a:t>sığdırmak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veriyi</a:t>
            </a:r>
            <a:r>
              <a:rPr lang="en-US" sz="2000" dirty="0"/>
              <a:t> </a:t>
            </a:r>
            <a:r>
              <a:rPr lang="en-US" sz="2000" dirty="0" err="1"/>
              <a:t>parçalamak</a:t>
            </a:r>
            <a:r>
              <a:rPr lang="en-US" sz="2000" dirty="0"/>
              <a:t> </a:t>
            </a:r>
            <a:r>
              <a:rPr lang="en-US" sz="2000" dirty="0" err="1"/>
              <a:t>gerekir</a:t>
            </a:r>
            <a:r>
              <a:rPr lang="en-US" sz="2000" dirty="0"/>
              <a:t>; </a:t>
            </a:r>
            <a:r>
              <a:rPr lang="en-US" sz="2000" dirty="0" err="1"/>
              <a:t>bu</a:t>
            </a:r>
            <a:r>
              <a:rPr lang="en-US" sz="2000" dirty="0"/>
              <a:t> da </a:t>
            </a:r>
            <a:r>
              <a:rPr lang="en-US" sz="2000" dirty="0" err="1"/>
              <a:t>ağı</a:t>
            </a:r>
            <a:r>
              <a:rPr lang="en-US" sz="2000" dirty="0"/>
              <a:t> </a:t>
            </a:r>
            <a:r>
              <a:rPr lang="en-US" sz="2000" dirty="0" err="1"/>
              <a:t>tıkatır</a:t>
            </a:r>
            <a:r>
              <a:rPr lang="en-US" sz="2000" dirty="0"/>
              <a:t>.</a:t>
            </a:r>
          </a:p>
          <a:p>
            <a:endParaRPr lang="en-US" b="1" dirty="0">
              <a:latin typeface="Montserrat SemiBold" panose="00000700000000000000" pitchFamily="2" charset="0"/>
            </a:endParaRPr>
          </a:p>
        </p:txBody>
      </p:sp>
      <p:pic>
        <p:nvPicPr>
          <p:cNvPr id="9" name="Picture 9" descr="image.png">
            <a:extLst>
              <a:ext uri="{FF2B5EF4-FFF2-40B4-BE49-F238E27FC236}">
                <a16:creationId xmlns:a16="http://schemas.microsoft.com/office/drawing/2014/main" id="{1A94325A-CE5F-FA25-678E-B7B7ED99D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34" y="3852360"/>
            <a:ext cx="95250" cy="200025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C2E928D-67E2-C8B4-75E9-3CEB129D90E7}"/>
              </a:ext>
            </a:extLst>
          </p:cNvPr>
          <p:cNvSpPr txBox="1"/>
          <p:nvPr/>
        </p:nvSpPr>
        <p:spPr>
          <a:xfrm>
            <a:off x="757084" y="3743086"/>
            <a:ext cx="5432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FDCAN (</a:t>
            </a:r>
            <a:r>
              <a:rPr lang="en-US" sz="2000" dirty="0" err="1"/>
              <a:t>Flexiable</a:t>
            </a:r>
            <a:r>
              <a:rPr lang="en-US" sz="2000" dirty="0"/>
              <a:t> Data CAN) </a:t>
            </a:r>
            <a:r>
              <a:rPr lang="en-US" sz="2000" dirty="0" err="1"/>
              <a:t>ise</a:t>
            </a:r>
            <a:r>
              <a:rPr lang="en-US" sz="2000" dirty="0"/>
              <a:t> 5 </a:t>
            </a:r>
            <a:r>
              <a:rPr lang="en-US" sz="2000" dirty="0" err="1"/>
              <a:t>ila</a:t>
            </a:r>
            <a:r>
              <a:rPr lang="en-US" sz="2000" dirty="0"/>
              <a:t> 8 </a:t>
            </a:r>
            <a:r>
              <a:rPr lang="en-US" sz="2000" dirty="0" err="1"/>
              <a:t>Mpbs</a:t>
            </a:r>
            <a:r>
              <a:rPr lang="en-US" sz="2000" dirty="0"/>
              <a:t> </a:t>
            </a:r>
            <a:r>
              <a:rPr lang="en-US" sz="2000" dirty="0" err="1"/>
              <a:t>kadar</a:t>
            </a:r>
            <a:r>
              <a:rPr lang="en-US" sz="2000" dirty="0"/>
              <a:t> </a:t>
            </a:r>
            <a:r>
              <a:rPr lang="en-US" sz="2000" dirty="0" err="1"/>
              <a:t>hızlara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tek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pakette</a:t>
            </a:r>
            <a:r>
              <a:rPr lang="en-US" sz="2000" dirty="0"/>
              <a:t> 64 </a:t>
            </a:r>
            <a:r>
              <a:rPr lang="en-US" sz="2000" dirty="0" err="1"/>
              <a:t>bayt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taşıyabilir</a:t>
            </a:r>
            <a:r>
              <a:rPr lang="en-US" sz="2000" dirty="0"/>
              <a:t>.</a:t>
            </a: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38854FC-7524-7AE5-A47A-52309AF61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955" y="931042"/>
            <a:ext cx="4618211" cy="444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0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80B42A8-94E2-BB5A-5B7D-021EF0C2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935022"/>
            <a:ext cx="9295046" cy="3165591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2E058A6-CA9A-C8F1-98A6-901EFD3B981C}"/>
              </a:ext>
            </a:extLst>
          </p:cNvPr>
          <p:cNvSpPr txBox="1"/>
          <p:nvPr/>
        </p:nvSpPr>
        <p:spPr>
          <a:xfrm>
            <a:off x="540774" y="436175"/>
            <a:ext cx="7305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FDCAN Frame</a:t>
            </a:r>
          </a:p>
          <a:p>
            <a:endParaRPr lang="en-US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7FE4F0E-F0B2-E8F9-1E91-DFF930D8C378}"/>
              </a:ext>
            </a:extLst>
          </p:cNvPr>
          <p:cNvSpPr txBox="1"/>
          <p:nvPr/>
        </p:nvSpPr>
        <p:spPr>
          <a:xfrm>
            <a:off x="540773" y="4183961"/>
            <a:ext cx="9114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Veri </a:t>
            </a:r>
            <a:r>
              <a:rPr lang="en-US" sz="1200" b="1" dirty="0" err="1"/>
              <a:t>Hızı</a:t>
            </a:r>
            <a:r>
              <a:rPr lang="en-US" sz="1200" b="1" dirty="0"/>
              <a:t> </a:t>
            </a:r>
            <a:r>
              <a:rPr lang="en-US" sz="1200" b="1" dirty="0" err="1"/>
              <a:t>Değişimi</a:t>
            </a:r>
            <a:r>
              <a:rPr lang="en-US" sz="1200" b="1" dirty="0"/>
              <a:t> (BRS - Bit Rate Switch):</a:t>
            </a:r>
            <a:endParaRPr lang="en-US" sz="1200" dirty="0"/>
          </a:p>
          <a:p>
            <a:pPr lvl="0"/>
            <a:r>
              <a:rPr lang="en-US" sz="1200" i="1" dirty="0" err="1"/>
              <a:t>Klasik</a:t>
            </a:r>
            <a:r>
              <a:rPr lang="en-US" sz="1200" i="1" dirty="0"/>
              <a:t> CAN:</a:t>
            </a:r>
            <a:r>
              <a:rPr lang="en-US" sz="1200" dirty="0"/>
              <a:t> </a:t>
            </a:r>
            <a:r>
              <a:rPr lang="en-US" sz="1200" dirty="0" err="1"/>
              <a:t>Tüm</a:t>
            </a:r>
            <a:r>
              <a:rPr lang="en-US" sz="1200" dirty="0"/>
              <a:t> </a:t>
            </a:r>
            <a:r>
              <a:rPr lang="en-US" sz="1200" dirty="0" err="1"/>
              <a:t>çerçeve</a:t>
            </a:r>
            <a:r>
              <a:rPr lang="en-US" sz="1200" dirty="0"/>
              <a:t> (</a:t>
            </a:r>
            <a:r>
              <a:rPr lang="en-US" sz="1200" dirty="0" err="1"/>
              <a:t>başlık</a:t>
            </a:r>
            <a:r>
              <a:rPr lang="en-US" sz="1200" dirty="0"/>
              <a:t>, </a:t>
            </a:r>
            <a:r>
              <a:rPr lang="en-US" sz="1200" dirty="0" err="1"/>
              <a:t>veri</a:t>
            </a:r>
            <a:r>
              <a:rPr lang="en-US" sz="1200" dirty="0"/>
              <a:t>, </a:t>
            </a:r>
            <a:r>
              <a:rPr lang="en-US" sz="1200" dirty="0" err="1"/>
              <a:t>bitiş</a:t>
            </a:r>
            <a:r>
              <a:rPr lang="en-US" sz="1200" dirty="0"/>
              <a:t>) </a:t>
            </a:r>
            <a:r>
              <a:rPr lang="en-US" sz="1200" dirty="0" err="1"/>
              <a:t>tek</a:t>
            </a:r>
            <a:r>
              <a:rPr lang="en-US" sz="1200" dirty="0"/>
              <a:t> </a:t>
            </a:r>
            <a:r>
              <a:rPr lang="en-US" sz="1200" dirty="0" err="1"/>
              <a:t>ve</a:t>
            </a:r>
            <a:r>
              <a:rPr lang="en-US" sz="1200" dirty="0"/>
              <a:t> </a:t>
            </a:r>
            <a:r>
              <a:rPr lang="en-US" sz="1200" dirty="0" err="1"/>
              <a:t>sabit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hızda</a:t>
            </a:r>
            <a:r>
              <a:rPr lang="en-US" sz="1200" dirty="0"/>
              <a:t> </a:t>
            </a:r>
            <a:r>
              <a:rPr lang="en-US" sz="1200" dirty="0" err="1"/>
              <a:t>iletilir</a:t>
            </a:r>
            <a:r>
              <a:rPr lang="en-US" sz="1200" dirty="0"/>
              <a:t>.</a:t>
            </a:r>
          </a:p>
          <a:p>
            <a:pPr lvl="0"/>
            <a:r>
              <a:rPr lang="en-US" sz="1200" i="1" dirty="0"/>
              <a:t>CAN FD:</a:t>
            </a:r>
            <a:r>
              <a:rPr lang="en-US" sz="1200" dirty="0"/>
              <a:t> Veri </a:t>
            </a:r>
            <a:r>
              <a:rPr lang="en-US" sz="1200" dirty="0" err="1"/>
              <a:t>alanı</a:t>
            </a:r>
            <a:r>
              <a:rPr lang="en-US" sz="1200" dirty="0"/>
              <a:t> (Data </a:t>
            </a:r>
            <a:r>
              <a:rPr lang="en-US" sz="1200" dirty="0" err="1"/>
              <a:t>ve</a:t>
            </a:r>
            <a:r>
              <a:rPr lang="en-US" sz="1200" dirty="0"/>
              <a:t> CRC), </a:t>
            </a:r>
            <a:r>
              <a:rPr lang="en-US" sz="1200" dirty="0" err="1"/>
              <a:t>adresleme</a:t>
            </a:r>
            <a:r>
              <a:rPr lang="en-US" sz="1200" dirty="0"/>
              <a:t> (ID) </a:t>
            </a:r>
            <a:r>
              <a:rPr lang="en-US" sz="1200" dirty="0" err="1"/>
              <a:t>alanından</a:t>
            </a:r>
            <a:r>
              <a:rPr lang="en-US" sz="1200" dirty="0"/>
              <a:t> </a:t>
            </a:r>
            <a:r>
              <a:rPr lang="en-US" sz="1200" dirty="0" err="1"/>
              <a:t>çok</a:t>
            </a:r>
            <a:r>
              <a:rPr lang="en-US" sz="1200" dirty="0"/>
              <a:t> </a:t>
            </a:r>
            <a:r>
              <a:rPr lang="en-US" sz="1200" dirty="0" err="1"/>
              <a:t>daha</a:t>
            </a:r>
            <a:r>
              <a:rPr lang="en-US" sz="1200" dirty="0"/>
              <a:t> </a:t>
            </a:r>
            <a:r>
              <a:rPr lang="en-US" sz="1200" dirty="0" err="1"/>
              <a:t>yüksek</a:t>
            </a:r>
            <a:r>
              <a:rPr lang="en-US" sz="1200" dirty="0"/>
              <a:t> </a:t>
            </a:r>
            <a:r>
              <a:rPr lang="en-US" sz="1200" dirty="0" err="1"/>
              <a:t>hızlarda</a:t>
            </a:r>
            <a:r>
              <a:rPr lang="en-US" sz="1200" dirty="0"/>
              <a:t> (</a:t>
            </a:r>
            <a:r>
              <a:rPr lang="en-US" sz="1200" dirty="0" err="1"/>
              <a:t>ör</a:t>
            </a:r>
            <a:r>
              <a:rPr lang="en-US" sz="1200" dirty="0"/>
              <a:t>. 4x </a:t>
            </a:r>
            <a:r>
              <a:rPr lang="en-US" sz="1200" dirty="0" err="1"/>
              <a:t>veya</a:t>
            </a:r>
            <a:r>
              <a:rPr lang="en-US" sz="1200" dirty="0"/>
              <a:t> 10x) </a:t>
            </a:r>
            <a:r>
              <a:rPr lang="en-US" sz="1200" dirty="0" err="1"/>
              <a:t>gönderilebilir</a:t>
            </a:r>
            <a:r>
              <a:rPr lang="en-US" sz="1200" dirty="0"/>
              <a:t>. </a:t>
            </a:r>
            <a:r>
              <a:rPr lang="en-US" sz="1200" dirty="0" err="1"/>
              <a:t>Görselde</a:t>
            </a:r>
            <a:r>
              <a:rPr lang="en-US" sz="1200" dirty="0"/>
              <a:t> 3. </a:t>
            </a:r>
            <a:r>
              <a:rPr lang="en-US" sz="1200" dirty="0" err="1"/>
              <a:t>satırda</a:t>
            </a:r>
            <a:r>
              <a:rPr lang="en-US" sz="1200" dirty="0"/>
              <a:t> BRS "On" (4x </a:t>
            </a:r>
            <a:r>
              <a:rPr lang="en-US" sz="1200" dirty="0" err="1"/>
              <a:t>hız</a:t>
            </a:r>
            <a:r>
              <a:rPr lang="en-US" sz="1200" dirty="0"/>
              <a:t>) </a:t>
            </a:r>
            <a:r>
              <a:rPr lang="en-US" sz="1200" dirty="0" err="1"/>
              <a:t>olduğunda</a:t>
            </a:r>
            <a:r>
              <a:rPr lang="en-US" sz="1200" dirty="0"/>
              <a:t> </a:t>
            </a:r>
            <a:r>
              <a:rPr lang="en-US" sz="1200" dirty="0" err="1"/>
              <a:t>iletim</a:t>
            </a:r>
            <a:r>
              <a:rPr lang="en-US" sz="1200" dirty="0"/>
              <a:t> </a:t>
            </a:r>
            <a:r>
              <a:rPr lang="en-US" sz="1200" dirty="0" err="1"/>
              <a:t>süresinin</a:t>
            </a:r>
            <a:r>
              <a:rPr lang="en-US" sz="1200" dirty="0"/>
              <a:t> ne </a:t>
            </a:r>
            <a:r>
              <a:rPr lang="en-US" sz="1200" dirty="0" err="1"/>
              <a:t>kadar</a:t>
            </a:r>
            <a:r>
              <a:rPr lang="en-US" sz="1200" dirty="0"/>
              <a:t> </a:t>
            </a:r>
            <a:r>
              <a:rPr lang="en-US" sz="1200" dirty="0" err="1"/>
              <a:t>kısaldığını</a:t>
            </a:r>
            <a:r>
              <a:rPr lang="en-US" sz="1200" dirty="0"/>
              <a:t> net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şekilde</a:t>
            </a:r>
            <a:r>
              <a:rPr lang="en-US" sz="1200" dirty="0"/>
              <a:t> </a:t>
            </a:r>
            <a:r>
              <a:rPr lang="en-US" sz="1200" dirty="0" err="1"/>
              <a:t>görebiliyoruz</a:t>
            </a:r>
            <a:r>
              <a:rPr lang="en-US" sz="1200" dirty="0"/>
              <a:t>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2B61F93-C7AA-926D-D8F4-4F27A86619D9}"/>
              </a:ext>
            </a:extLst>
          </p:cNvPr>
          <p:cNvSpPr txBox="1"/>
          <p:nvPr/>
        </p:nvSpPr>
        <p:spPr>
          <a:xfrm>
            <a:off x="540773" y="5157300"/>
            <a:ext cx="8829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Maksimum</a:t>
            </a:r>
            <a:r>
              <a:rPr lang="en-US" sz="1200" b="1" dirty="0"/>
              <a:t> Veri </a:t>
            </a:r>
            <a:r>
              <a:rPr lang="en-US" sz="1200" b="1" dirty="0" err="1"/>
              <a:t>Kapasitesi</a:t>
            </a:r>
            <a:r>
              <a:rPr lang="en-US" sz="1200" b="1" dirty="0"/>
              <a:t> (Payload):</a:t>
            </a:r>
            <a:endParaRPr lang="en-US" sz="1200" dirty="0"/>
          </a:p>
          <a:p>
            <a:pPr lvl="0"/>
            <a:r>
              <a:rPr lang="en-US" sz="1200" i="1" dirty="0" err="1"/>
              <a:t>Klasik</a:t>
            </a:r>
            <a:r>
              <a:rPr lang="en-US" sz="1200" i="1" dirty="0"/>
              <a:t> CAN:</a:t>
            </a:r>
            <a:r>
              <a:rPr lang="en-US" sz="1200" dirty="0"/>
              <a:t> Tek </a:t>
            </a:r>
            <a:r>
              <a:rPr lang="en-US" sz="1200" dirty="0" err="1"/>
              <a:t>seferde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fazla</a:t>
            </a:r>
            <a:r>
              <a:rPr lang="en-US" sz="1200" dirty="0"/>
              <a:t> 8 Byte </a:t>
            </a:r>
            <a:r>
              <a:rPr lang="en-US" sz="1200" dirty="0" err="1"/>
              <a:t>veri</a:t>
            </a:r>
            <a:r>
              <a:rPr lang="en-US" sz="1200" dirty="0"/>
              <a:t> </a:t>
            </a:r>
            <a:r>
              <a:rPr lang="en-US" sz="1200" dirty="0" err="1"/>
              <a:t>taşıyabilir</a:t>
            </a:r>
            <a:r>
              <a:rPr lang="en-US" sz="1200" dirty="0"/>
              <a:t>.</a:t>
            </a:r>
          </a:p>
          <a:p>
            <a:pPr lvl="0"/>
            <a:r>
              <a:rPr lang="en-US" sz="1200" i="1" dirty="0"/>
              <a:t>CAN FD:</a:t>
            </a:r>
            <a:r>
              <a:rPr lang="en-US" sz="1200" dirty="0"/>
              <a:t> Tek </a:t>
            </a:r>
            <a:r>
              <a:rPr lang="en-US" sz="1200" dirty="0" err="1"/>
              <a:t>seferde</a:t>
            </a:r>
            <a:r>
              <a:rPr lang="en-US" sz="1200" dirty="0"/>
              <a:t> 64 </a:t>
            </a:r>
            <a:r>
              <a:rPr lang="en-US" sz="1200" dirty="0" err="1"/>
              <a:t>Byte'a</a:t>
            </a:r>
            <a:r>
              <a:rPr lang="en-US" sz="1200" dirty="0"/>
              <a:t> </a:t>
            </a:r>
            <a:r>
              <a:rPr lang="en-US" sz="1200" dirty="0" err="1"/>
              <a:t>kadar</a:t>
            </a:r>
            <a:r>
              <a:rPr lang="en-US" sz="1200" dirty="0"/>
              <a:t> </a:t>
            </a:r>
            <a:r>
              <a:rPr lang="en-US" sz="1200" dirty="0" err="1"/>
              <a:t>veri</a:t>
            </a:r>
            <a:r>
              <a:rPr lang="en-US" sz="1200" dirty="0"/>
              <a:t> </a:t>
            </a:r>
            <a:r>
              <a:rPr lang="en-US" sz="1200" dirty="0" err="1"/>
              <a:t>taşıyabilir</a:t>
            </a:r>
            <a:r>
              <a:rPr lang="en-US" sz="1200" dirty="0"/>
              <a:t>. </a:t>
            </a:r>
            <a:r>
              <a:rPr lang="en-US" sz="1200" dirty="0" err="1"/>
              <a:t>Görselin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alt </a:t>
            </a:r>
            <a:r>
              <a:rPr lang="en-US" sz="1200" dirty="0" err="1"/>
              <a:t>satırında</a:t>
            </a:r>
            <a:r>
              <a:rPr lang="en-US" sz="1200" dirty="0"/>
              <a:t> </a:t>
            </a:r>
            <a:r>
              <a:rPr lang="en-US" sz="1200" dirty="0" err="1"/>
              <a:t>görüldüğü</a:t>
            </a:r>
            <a:r>
              <a:rPr lang="en-US" sz="1200" dirty="0"/>
              <a:t> </a:t>
            </a:r>
            <a:r>
              <a:rPr lang="en-US" sz="1200" dirty="0" err="1"/>
              <a:t>üzere</a:t>
            </a:r>
            <a:r>
              <a:rPr lang="en-US" sz="1200" dirty="0"/>
              <a:t>; </a:t>
            </a:r>
            <a:r>
              <a:rPr lang="en-US" sz="1200" dirty="0" err="1"/>
              <a:t>veri</a:t>
            </a:r>
            <a:r>
              <a:rPr lang="en-US" sz="1200" dirty="0"/>
              <a:t> </a:t>
            </a:r>
            <a:r>
              <a:rPr lang="en-US" sz="1200" dirty="0" err="1"/>
              <a:t>aktarım</a:t>
            </a:r>
            <a:r>
              <a:rPr lang="en-US" sz="1200" dirty="0"/>
              <a:t> </a:t>
            </a:r>
            <a:r>
              <a:rPr lang="en-US" sz="1200" dirty="0" err="1"/>
              <a:t>hızı</a:t>
            </a:r>
            <a:r>
              <a:rPr lang="en-US" sz="1200" dirty="0"/>
              <a:t> 10 </a:t>
            </a:r>
            <a:r>
              <a:rPr lang="en-US" sz="1200" dirty="0" err="1"/>
              <a:t>katına</a:t>
            </a:r>
            <a:r>
              <a:rPr lang="en-US" sz="1200" dirty="0"/>
              <a:t> </a:t>
            </a:r>
            <a:r>
              <a:rPr lang="en-US" sz="1200" dirty="0" err="1"/>
              <a:t>çıkarıldığında</a:t>
            </a:r>
            <a:r>
              <a:rPr lang="en-US" sz="1200" dirty="0"/>
              <a:t>, 64 </a:t>
            </a:r>
            <a:r>
              <a:rPr lang="en-US" sz="1200" dirty="0" err="1"/>
              <a:t>Byte'lık</a:t>
            </a:r>
            <a:r>
              <a:rPr lang="en-US" sz="1200" dirty="0"/>
              <a:t> </a:t>
            </a:r>
            <a:r>
              <a:rPr lang="en-US" sz="1200" dirty="0" err="1"/>
              <a:t>devasa</a:t>
            </a:r>
            <a:r>
              <a:rPr lang="en-US" sz="1200" dirty="0"/>
              <a:t> </a:t>
            </a:r>
            <a:r>
              <a:rPr lang="en-US" sz="1200" dirty="0" err="1"/>
              <a:t>bir</a:t>
            </a:r>
            <a:r>
              <a:rPr lang="en-US" sz="1200" dirty="0"/>
              <a:t> </a:t>
            </a:r>
            <a:r>
              <a:rPr lang="en-US" sz="1200" dirty="0" err="1"/>
              <a:t>veri</a:t>
            </a:r>
            <a:r>
              <a:rPr lang="en-US" sz="1200" dirty="0"/>
              <a:t>, </a:t>
            </a:r>
            <a:r>
              <a:rPr lang="en-US" sz="1200" dirty="0" err="1"/>
              <a:t>Klasik</a:t>
            </a:r>
            <a:r>
              <a:rPr lang="en-US" sz="1200" dirty="0"/>
              <a:t> </a:t>
            </a:r>
            <a:r>
              <a:rPr lang="en-US" sz="1200" dirty="0" err="1"/>
              <a:t>CAN'in</a:t>
            </a:r>
            <a:r>
              <a:rPr lang="en-US" sz="1200" dirty="0"/>
              <a:t> </a:t>
            </a:r>
            <a:r>
              <a:rPr lang="en-US" sz="1200" dirty="0" err="1"/>
              <a:t>sadece</a:t>
            </a:r>
            <a:r>
              <a:rPr lang="en-US" sz="1200" dirty="0"/>
              <a:t> 3 Byte </a:t>
            </a:r>
            <a:r>
              <a:rPr lang="en-US" sz="1200" dirty="0" err="1"/>
              <a:t>gönderdiği</a:t>
            </a:r>
            <a:r>
              <a:rPr lang="en-US" sz="1200" dirty="0"/>
              <a:t> </a:t>
            </a:r>
            <a:r>
              <a:rPr lang="en-US" sz="1200" dirty="0" err="1"/>
              <a:t>süreyle</a:t>
            </a:r>
            <a:r>
              <a:rPr lang="en-US" sz="1200" dirty="0"/>
              <a:t> </a:t>
            </a:r>
            <a:r>
              <a:rPr lang="en-US" sz="1200" dirty="0" err="1"/>
              <a:t>neredeyse</a:t>
            </a:r>
            <a:r>
              <a:rPr lang="en-US" sz="1200" dirty="0"/>
              <a:t> </a:t>
            </a:r>
            <a:r>
              <a:rPr lang="en-US" sz="1200" dirty="0" err="1"/>
              <a:t>aynı</a:t>
            </a:r>
            <a:r>
              <a:rPr lang="en-US" sz="1200" dirty="0"/>
              <a:t> </a:t>
            </a:r>
            <a:r>
              <a:rPr lang="en-US" sz="1200" dirty="0" err="1"/>
              <a:t>sürede</a:t>
            </a:r>
            <a:r>
              <a:rPr lang="en-US" sz="1200" dirty="0"/>
              <a:t> </a:t>
            </a:r>
            <a:r>
              <a:rPr lang="en-US" sz="1200" dirty="0" err="1"/>
              <a:t>ağa</a:t>
            </a:r>
            <a:r>
              <a:rPr lang="en-US" sz="1200" dirty="0"/>
              <a:t> </a:t>
            </a:r>
            <a:r>
              <a:rPr lang="en-US" sz="1200" dirty="0" err="1"/>
              <a:t>iletilebilmektedir</a:t>
            </a:r>
            <a:r>
              <a:rPr lang="en-US" sz="1200" dirty="0"/>
              <a:t>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3237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9D8F588-A517-382D-3A7E-1F8FB3C8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114" y="1118291"/>
            <a:ext cx="1095528" cy="182905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583F4DC6-3821-D32F-C1FA-1A7F00109359}"/>
              </a:ext>
            </a:extLst>
          </p:cNvPr>
          <p:cNvSpPr txBox="1"/>
          <p:nvPr/>
        </p:nvSpPr>
        <p:spPr>
          <a:xfrm>
            <a:off x="727587" y="353961"/>
            <a:ext cx="54864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FDCAN</a:t>
            </a:r>
          </a:p>
          <a:p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028A8A2-0825-17ED-EC14-B22872F130B5}"/>
              </a:ext>
            </a:extLst>
          </p:cNvPr>
          <p:cNvSpPr txBox="1"/>
          <p:nvPr/>
        </p:nvSpPr>
        <p:spPr>
          <a:xfrm>
            <a:off x="8305416" y="2762680"/>
            <a:ext cx="983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1 2 3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1E4056B-2B03-BA72-AB45-39DB9A0A2668}"/>
              </a:ext>
            </a:extLst>
          </p:cNvPr>
          <p:cNvSpPr txBox="1"/>
          <p:nvPr/>
        </p:nvSpPr>
        <p:spPr>
          <a:xfrm>
            <a:off x="727587" y="1118291"/>
            <a:ext cx="3785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Pin 1 = CAN_H</a:t>
            </a:r>
          </a:p>
          <a:p>
            <a:r>
              <a:rPr lang="tr-TR" dirty="0"/>
              <a:t>Pin 2 = CAN_L</a:t>
            </a:r>
          </a:p>
          <a:p>
            <a:r>
              <a:rPr lang="tr-TR" dirty="0"/>
              <a:t>Pin 3 = </a:t>
            </a:r>
            <a:r>
              <a:rPr lang="tr-TR" dirty="0" err="1"/>
              <a:t>Ground</a:t>
            </a:r>
            <a:endParaRPr lang="tr-TR" dirty="0"/>
          </a:p>
        </p:txBody>
      </p:sp>
      <p:pic>
        <p:nvPicPr>
          <p:cNvPr id="11" name="Picture 9" descr="image.png">
            <a:extLst>
              <a:ext uri="{FF2B5EF4-FFF2-40B4-BE49-F238E27FC236}">
                <a16:creationId xmlns:a16="http://schemas.microsoft.com/office/drawing/2014/main" id="{F0D54A47-DFB6-C3DD-E8EF-9E6052029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4" y="2562655"/>
            <a:ext cx="95250" cy="200025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C29A91D9-2322-5379-1D76-9634412265FD}"/>
              </a:ext>
            </a:extLst>
          </p:cNvPr>
          <p:cNvSpPr txBox="1"/>
          <p:nvPr/>
        </p:nvSpPr>
        <p:spPr>
          <a:xfrm>
            <a:off x="877913" y="2474165"/>
            <a:ext cx="4050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FDCAN haberleşme protokolü diğer protokoller gibi pinden pine bağlantı istemez bağlantı kurulması amaçlanan cihazlar CAN_H ve CAN_L kanalları üzerinden veri aktarımı gerçekleştirir.</a:t>
            </a:r>
          </a:p>
        </p:txBody>
      </p:sp>
      <p:pic>
        <p:nvPicPr>
          <p:cNvPr id="14" name="Picture 9" descr="image.png">
            <a:extLst>
              <a:ext uri="{FF2B5EF4-FFF2-40B4-BE49-F238E27FC236}">
                <a16:creationId xmlns:a16="http://schemas.microsoft.com/office/drawing/2014/main" id="{DC5E1E1F-6CAD-44D2-C1DE-2A14EB5FB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7" y="4327545"/>
            <a:ext cx="95250" cy="200025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7F4CA14B-671E-DAEB-6B9D-A0BE52CF1235}"/>
              </a:ext>
            </a:extLst>
          </p:cNvPr>
          <p:cNvSpPr txBox="1"/>
          <p:nvPr/>
        </p:nvSpPr>
        <p:spPr>
          <a:xfrm>
            <a:off x="877913" y="4283962"/>
            <a:ext cx="4050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Burada dikkat edilmesi gereken kural hatta bağlanılan son cihaz ve ilk cihazın fiziksel olarak 120 ohm direnç ile bağlanmasıdır. Bu sinyallerin kablo ucundan çarpıp geri yansımasını engeller.</a:t>
            </a:r>
          </a:p>
        </p:txBody>
      </p:sp>
      <p:pic>
        <p:nvPicPr>
          <p:cNvPr id="16" name="Resim 15" descr="CAN Bus Troubleshooting Guide">
            <a:extLst>
              <a:ext uri="{FF2B5EF4-FFF2-40B4-BE49-F238E27FC236}">
                <a16:creationId xmlns:a16="http://schemas.microsoft.com/office/drawing/2014/main" id="{A532FBF9-13F8-031C-03EA-CEE50920E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87" y="3376673"/>
            <a:ext cx="4892246" cy="308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7FDE61D-97CE-8F4B-6D37-D67D16F10539}"/>
              </a:ext>
            </a:extLst>
          </p:cNvPr>
          <p:cNvSpPr txBox="1"/>
          <p:nvPr/>
        </p:nvSpPr>
        <p:spPr>
          <a:xfrm>
            <a:off x="501445" y="501446"/>
            <a:ext cx="73840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Nerelerde Kullanabiliriz?</a:t>
            </a:r>
          </a:p>
        </p:txBody>
      </p:sp>
      <p:pic>
        <p:nvPicPr>
          <p:cNvPr id="3" name="Resim 2" descr="Rosner-TDL : Concepts for the Fin Actuation System of the Spacecraft  Technology Vehicle SHEFEX 2">
            <a:extLst>
              <a:ext uri="{FF2B5EF4-FFF2-40B4-BE49-F238E27FC236}">
                <a16:creationId xmlns:a16="http://schemas.microsoft.com/office/drawing/2014/main" id="{96EEFC86-E8C7-C126-5459-66F12505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573" y="1059784"/>
            <a:ext cx="4324965" cy="288331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12990F1B-A00D-6AE7-CF65-9699D95DA377}"/>
              </a:ext>
            </a:extLst>
          </p:cNvPr>
          <p:cNvSpPr txBox="1"/>
          <p:nvPr/>
        </p:nvSpPr>
        <p:spPr>
          <a:xfrm>
            <a:off x="8356191" y="3973589"/>
            <a:ext cx="33626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 err="1"/>
              <a:t>Figure</a:t>
            </a:r>
            <a:r>
              <a:rPr lang="tr-TR" sz="1050" dirty="0"/>
              <a:t> 4: Fin </a:t>
            </a:r>
            <a:r>
              <a:rPr lang="tr-TR" sz="1050" dirty="0" err="1"/>
              <a:t>actuators</a:t>
            </a:r>
            <a:endParaRPr lang="tr-TR" sz="1050" dirty="0"/>
          </a:p>
        </p:txBody>
      </p:sp>
      <p:pic>
        <p:nvPicPr>
          <p:cNvPr id="7" name="Picture 9" descr="image.png">
            <a:extLst>
              <a:ext uri="{FF2B5EF4-FFF2-40B4-BE49-F238E27FC236}">
                <a16:creationId xmlns:a16="http://schemas.microsoft.com/office/drawing/2014/main" id="{E198223A-5AFF-3A85-A359-E4B08352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5" y="1648255"/>
            <a:ext cx="95250" cy="200025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492FF0D2-3561-F28F-6F83-21C3507714A4}"/>
              </a:ext>
            </a:extLst>
          </p:cNvPr>
          <p:cNvSpPr txBox="1"/>
          <p:nvPr/>
        </p:nvSpPr>
        <p:spPr>
          <a:xfrm>
            <a:off x="698090" y="1533955"/>
            <a:ext cx="33626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Örneğin hareket halindeki bir roketin rotasını değiştirmek için gövde üzerinde bulunan kanatçıkları hareket ettirmekte kullanılabilir.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91B9B00B-B8CC-C7A3-36A1-A8E9815E6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5" y="3429000"/>
            <a:ext cx="95250" cy="200025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84BBB11C-7AF9-A4F2-DEC2-CB941C5632C5}"/>
              </a:ext>
            </a:extLst>
          </p:cNvPr>
          <p:cNvSpPr txBox="1"/>
          <p:nvPr/>
        </p:nvSpPr>
        <p:spPr>
          <a:xfrm>
            <a:off x="668591" y="3350342"/>
            <a:ext cx="5043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FDCAN sayesinde roket üzerinde bulunan işlemci ile motor sürücüsü arasında omurga kurarak IMU ve diğer sensörlerden gelen veriler ile gürültülerden minimum etkilenen ve </a:t>
            </a:r>
            <a:r>
              <a:rPr lang="tr-TR" dirty="0" err="1"/>
              <a:t>mikrosaniye</a:t>
            </a:r>
            <a:r>
              <a:rPr lang="tr-TR" dirty="0"/>
              <a:t> civarlarında iletişim sağlayan bir haberleşme kanalı oluştururuz.</a:t>
            </a:r>
          </a:p>
        </p:txBody>
      </p:sp>
    </p:spTree>
    <p:extLst>
      <p:ext uri="{BB962C8B-B14F-4D97-AF65-F5344CB8AC3E}">
        <p14:creationId xmlns:p14="http://schemas.microsoft.com/office/powerpoint/2010/main" val="2127415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6B72E9B-B788-B9DB-8E20-862B54D0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37" y="0"/>
            <a:ext cx="7255364" cy="684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66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454</Words>
  <Application>Microsoft Office PowerPoint</Application>
  <PresentationFormat>Geniş ekran</PresentationFormat>
  <Paragraphs>39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Montserrat</vt:lpstr>
      <vt:lpstr>Montserrat SemiBold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GÖKTAN SARIKAN</cp:lastModifiedBy>
  <cp:revision>7</cp:revision>
  <dcterms:created xsi:type="dcterms:W3CDTF">2013-01-27T09:14:16Z</dcterms:created>
  <dcterms:modified xsi:type="dcterms:W3CDTF">2026-08-12T06:02:49Z</dcterms:modified>
  <cp:category/>
</cp:coreProperties>
</file>